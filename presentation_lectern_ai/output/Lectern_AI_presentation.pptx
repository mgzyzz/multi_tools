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0"/>
            <a:ext cx="0" cy="6858000"/>
          </a:xfrm>
          <a:prstGeom prst="line">
            <a:avLst/>
          </a:prstGeom>
          <a:noFill/>
          <a:ln w="12700">
            <a:solidFill>
              <a:srgbClr val="2230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914400"/>
            <a:ext cx="0" cy="507492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4920" y="914400"/>
            <a:ext cx="0" cy="507492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914400"/>
            <a:ext cx="0" cy="507492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914400"/>
            <a:ext cx="0" cy="507492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914400"/>
            <a:ext cx="0" cy="507492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914400"/>
            <a:ext cx="0" cy="507492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914400"/>
            <a:ext cx="0" cy="507492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143000"/>
            <a:ext cx="6675120" cy="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2057400"/>
            <a:ext cx="6675120" cy="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2971800"/>
            <a:ext cx="6675120" cy="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3886200"/>
            <a:ext cx="6675120" cy="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4800600"/>
            <a:ext cx="6675120" cy="0"/>
          </a:xfrm>
          <a:prstGeom prst="line">
            <a:avLst/>
          </a:prstGeom>
          <a:noFill/>
          <a:ln w="7620">
            <a:solidFill>
              <a:srgbClr val="2634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71323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649" y="781263"/>
            <a:ext cx="283464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8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480" dirty="0"/>
          </a:p>
        </p:txBody>
      </p:sp>
      <p:sp>
        <p:nvSpPr>
          <p:cNvPr id="19" name="Shape 17"/>
          <p:cNvSpPr/>
          <p:nvPr/>
        </p:nvSpPr>
        <p:spPr>
          <a:xfrm>
            <a:off x="1106058" y="792602"/>
            <a:ext cx="158740" cy="158740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856610" y="1042050"/>
            <a:ext cx="158740" cy="158740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786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LECTERN 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10789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A7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monitoring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3232" y="21214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Lectern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2962656" y="2139696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2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768096" y="29443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D8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Интеллектуальная система академического мониторинга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6384" y="3794760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B4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AI-учет посещаемости, аналитика рисков и уведомления студентам в едином рабочем контуре преподавателя.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0" y="2039112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1076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recognition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37376" y="2999232"/>
            <a:ext cx="1243584" cy="310896"/>
          </a:xfrm>
          <a:prstGeom prst="roundRect">
            <a:avLst>
              <a:gd name="adj" fmla="val 4705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306781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analytics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67344" y="2505456"/>
            <a:ext cx="1225296" cy="310896"/>
          </a:xfrm>
          <a:prstGeom prst="roundRect">
            <a:avLst>
              <a:gd name="adj" fmla="val 4705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67344" y="257403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70064" y="4572000"/>
            <a:ext cx="1408176" cy="310896"/>
          </a:xfrm>
          <a:prstGeom prst="roundRect">
            <a:avLst>
              <a:gd name="adj" fmla="val 47059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70064" y="464058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actions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89320" y="2194560"/>
            <a:ext cx="448056" cy="960120"/>
          </a:xfrm>
          <a:prstGeom prst="line">
            <a:avLst/>
          </a:prstGeom>
          <a:noFill/>
          <a:ln w="17780">
            <a:solidFill>
              <a:srgbClr val="14B8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3154680"/>
            <a:ext cx="786384" cy="-493776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3310128"/>
            <a:ext cx="-91440" cy="1261872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6080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Готовая презентация проекта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9646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Контроль учебного процесса распадается на ручные действия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Преподаватель тратит время на отметки, администрация поздно видит риски, студент получает сигнал уже после накопления проблем.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1852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9894" y="466710"/>
            <a:ext cx="19202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11241268" y="474391"/>
            <a:ext cx="107533" cy="107533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1072287" y="643372"/>
            <a:ext cx="107533" cy="107533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488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606040"/>
            <a:ext cx="2157984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80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Посещаемость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31927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ручной учет, ошибки, потеря времени на занятии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21488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0" y="2606040"/>
            <a:ext cx="2157984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880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Успеваемость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31927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раннего сигнала по студентам в зоне риска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21488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46520" y="2606040"/>
            <a:ext cx="2157984" cy="0"/>
          </a:xfrm>
          <a:prstGeom prst="line">
            <a:avLst/>
          </a:prstGeom>
          <a:noFill/>
          <a:ln w="2794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880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Коммуникация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331927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уведомления зависят от памяти и загруженности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35440" y="21488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35440" y="2606040"/>
            <a:ext cx="2157984" cy="0"/>
          </a:xfrm>
          <a:prstGeom prst="line">
            <a:avLst/>
          </a:prstGeom>
          <a:noFill/>
          <a:ln w="2794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880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Ответственность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35440" y="331927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сложно доказать, что меры были приняты вовремя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87552" y="5074920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Итог: система нужна не как «еще один журнал», а как ранний контур выявления академических рисков.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9646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Lectern AI объединяет учет, аналитику и реакцию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Платформа закрывает полный цикл: от фиксации присутствия до уведомления и эскалации.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1852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9894" y="466710"/>
            <a:ext cx="19202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11241268" y="474391"/>
            <a:ext cx="107533" cy="107533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1072287" y="643372"/>
            <a:ext cx="107533" cy="107533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2651760"/>
            <a:ext cx="2194560" cy="21945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345277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Lectern</a:t>
            </a:r>
            <a:endParaRPr lang="en-US" sz="26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080760" y="3749040"/>
            <a:ext cx="-2670048" cy="-1344168"/>
          </a:xfrm>
          <a:prstGeom prst="line">
            <a:avLst/>
          </a:prstGeom>
          <a:noFill/>
          <a:ln w="2286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984248"/>
            <a:ext cx="841248" cy="8412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8620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AI-скан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3749040"/>
            <a:ext cx="1810512" cy="-154533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1783080"/>
            <a:ext cx="841248" cy="8412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6609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Журнал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3749040"/>
            <a:ext cx="3319272" cy="758952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4087368"/>
            <a:ext cx="841248" cy="8412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49651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3749040"/>
            <a:ext cx="-795528" cy="1883664"/>
          </a:xfrm>
          <a:prstGeom prst="line">
            <a:avLst/>
          </a:prstGeom>
          <a:noFill/>
          <a:ln w="2286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5212080"/>
            <a:ext cx="841248" cy="8412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60899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Уведомления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3749040"/>
            <a:ext cx="-2761488" cy="941832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0360" y="4270248"/>
            <a:ext cx="841248" cy="841248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51480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Эскалация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5989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идея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7400" y="59161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Преподаватель видит не только факт отсутствия, а состояние группы и следующий нужный шаг.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9646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 состоит из четырех согласованных подсистем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Frontend, backend, AI-сервис и Telegram/email-уведомления работают как единый образовательный workflow.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1852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9894" y="466710"/>
            <a:ext cx="19202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11241268" y="474391"/>
            <a:ext cx="107533" cy="107533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1072287" y="643372"/>
            <a:ext cx="107533" cy="107533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130552"/>
            <a:ext cx="2395728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130552"/>
            <a:ext cx="239572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48716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971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/ TanStack</a:t>
            </a:r>
            <a:endParaRPr lang="en-US" sz="11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группы, журнал,</a:t>
            </a:r>
            <a:endParaRPr lang="en-US" sz="11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расписание, сканирование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3108960" y="3520440"/>
            <a:ext cx="4663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3355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75304" y="2130552"/>
            <a:ext cx="2395728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2130552"/>
            <a:ext cx="2395728" cy="1097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248716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03904" y="2971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Django REST</a:t>
            </a:r>
            <a:endParaRPr lang="en-US" sz="11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модели, API, права,</a:t>
            </a:r>
            <a:endParaRPr lang="en-US" sz="11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задачи и WebSocket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5971032" y="3520440"/>
            <a:ext cx="4663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355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37376" y="2130552"/>
            <a:ext cx="2395728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2130552"/>
            <a:ext cx="2395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248716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Service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65976" y="2971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+ FaceNet</a:t>
            </a:r>
            <a:endParaRPr lang="en-US" sz="11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детекция лица, embedding,</a:t>
            </a:r>
            <a:endParaRPr lang="en-US" sz="11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с базой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8833104" y="3520440"/>
            <a:ext cx="4663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42832" y="33558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299448" y="2130552"/>
            <a:ext cx="2395728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99448" y="2130552"/>
            <a:ext cx="2395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248716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 &amp; Mail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28048" y="29718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/ email</a:t>
            </a:r>
            <a:endParaRPr lang="en-US" sz="11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уведомления студентам,</a:t>
            </a:r>
            <a:endParaRPr lang="en-US" sz="11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1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доставка и статусы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987552" y="55778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связывает сервисы в воспроизводимую среду: БД, backend, frontend, AI и коммуникационный слой.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AI-ПОСЕЩАЕМОСТЬ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9646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Сканирование лица превращает отметку в быстрый подтверждаемый факт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Преподаватель открывает занятие, камера фиксирует лицо, сервис возвращает статус распознавания.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1852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9894" y="466710"/>
            <a:ext cx="19202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11241268" y="474391"/>
            <a:ext cx="107533" cy="107533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1072287" y="643372"/>
            <a:ext cx="107533" cy="107533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505456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745760"/>
            <a:ext cx="4937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34015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Камера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37856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получение изображения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17904" y="2834640"/>
            <a:ext cx="114300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2505456"/>
            <a:ext cx="658368" cy="6583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2745760"/>
            <a:ext cx="4937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26664" y="34015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Детекция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53512" y="37856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находит лицо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58184" y="2834640"/>
            <a:ext cx="114300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21808" y="2505456"/>
            <a:ext cx="658368" cy="6583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04104" y="2745760"/>
            <a:ext cx="4937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66944" y="34015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93792" y="37856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FaceNet строит вектор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98464" y="2834640"/>
            <a:ext cx="114300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2088" y="2505456"/>
            <a:ext cx="658368" cy="6583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4384" y="2745760"/>
            <a:ext cx="4937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07224" y="34015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34072" y="37856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 ближайшего студента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38744" y="2834640"/>
            <a:ext cx="114300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02368" y="2505456"/>
            <a:ext cx="658368" cy="6583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84664" y="2745760"/>
            <a:ext cx="4937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47504" y="34015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Отметка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74352" y="37856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сохраняется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78992" y="5230368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Статусы API: recognized, not_recognized, no_face, empty_embeddings. Это позволяет показывать честный результат без подмены данных.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9646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Система показывает не данные ради данных, а студентов в зоне риска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 формируется из посещаемости, оценок и событий; преподаватель получает понятную причину и действие.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1852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9894" y="466710"/>
            <a:ext cx="19202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11241268" y="474391"/>
            <a:ext cx="107533" cy="107533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1072287" y="643372"/>
            <a:ext cx="107533" cy="107533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66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видит преподаватель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32688" y="273405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6883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процент посещаемости по студенту и группе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" y="3191256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1455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динамику успеваемости и средний балл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" y="36484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602736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причину риска: пропуски, низкие оценки, задолженность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2688" y="4105656"/>
            <a:ext cx="100584" cy="100584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40599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статус реакции и историю действий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3591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Посещаемость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2331720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331720"/>
            <a:ext cx="246065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44200" y="23042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0760" y="30449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Оценки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3017520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3017520"/>
            <a:ext cx="195590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44200" y="2990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80760" y="37307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06640" y="3703320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3703320"/>
            <a:ext cx="113568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44200" y="3675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80760" y="44165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Реакция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06640" y="4389120"/>
            <a:ext cx="315468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4389120"/>
            <a:ext cx="2649931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44200" y="43616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06640" y="6400800"/>
            <a:ext cx="3154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5440680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Риск-инцидент создается автоматически и закрывается, когда показатель восстановлен.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УВЕДОМЛЕНИЯ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9646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Система фиксирует не только проблему, но и реакцию на нее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важная часть защиты проекта: платформа подтверждает своевременные действия преподавателя.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1852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9894" y="466710"/>
            <a:ext cx="19202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11241268" y="474391"/>
            <a:ext cx="107533" cy="107533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1072287" y="643372"/>
            <a:ext cx="107533" cy="107533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3113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444752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Порог риска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44752" y="27066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посещаемость ниже нормы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063240" y="2514600"/>
            <a:ext cx="45720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23113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4187952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Уведомление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87952" y="27066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студент получает причину и срок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806440" y="2514600"/>
            <a:ext cx="45720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3113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931152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Фиксация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931152" y="27066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сохраняется факт отправки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549640" y="2514600"/>
            <a:ext cx="457200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23113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9674352" y="2331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Эскалация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74352" y="27066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проблема не решена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69264" y="4343400"/>
            <a:ext cx="102412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773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Корректная формулировка для защиты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5230368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Функция не освобождает преподавателя от ответственности. Она подтверждает, что проблема была замечена, студент уведомлен, а действия сохранены в истории.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ИНТЕРФЕЙС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9646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 Hub собран как рабочее место преподавателя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Первый экран — не лендинг, а операционный dashboard с быстрым доступом к занятиям и отметкам.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1852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9894" y="466710"/>
            <a:ext cx="19202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11241268" y="474391"/>
            <a:ext cx="107533" cy="107533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1072287" y="643372"/>
            <a:ext cx="107533" cy="107533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11680"/>
            <a:ext cx="1046988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011680"/>
            <a:ext cx="169164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26771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2743" y="2307214"/>
            <a:ext cx="164592" cy="1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1288207" y="2313798"/>
            <a:ext cx="92172" cy="92172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1143366" y="2458639"/>
            <a:ext cx="92172" cy="92172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36192" y="23317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Lectern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15568" y="283464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1115568" y="31912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115568" y="35478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1115568" y="390448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AI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1115568" y="426110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115568" y="46177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2907792" y="2340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Рабочий день преподавателя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907792" y="2880360"/>
            <a:ext cx="1874520" cy="7863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7488" y="2880360"/>
            <a:ext cx="1874520" cy="7863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87184" y="2880360"/>
            <a:ext cx="1874520" cy="7863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308152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Занятий сегодня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3090672" y="32735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30368" y="3081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Группы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5230368" y="32735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70064" y="3081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 фото лица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7370064" y="32735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82%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907792" y="4069080"/>
            <a:ext cx="3858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43159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Следующее занятие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090672" y="45902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Математический анализ · ИСП-21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5486400" y="461772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46863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Открыть скан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32320" y="4069080"/>
            <a:ext cx="3520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43159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Зона риска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15200" y="4681728"/>
            <a:ext cx="210312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4681728"/>
            <a:ext cx="12252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626364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перегружает, а ведет к следующему действию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ЦЕННОСТЬ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9646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 снижает ручную нагрузку и повышает управляемость обучения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" y="1371600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Польза распределена между преподавателем, студентом и администрацией.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18520" y="420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9894" y="466710"/>
            <a:ext cx="192024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680" dirty="0"/>
          </a:p>
        </p:txBody>
      </p:sp>
      <p:sp>
        <p:nvSpPr>
          <p:cNvPr id="7" name="Shape 5"/>
          <p:cNvSpPr/>
          <p:nvPr/>
        </p:nvSpPr>
        <p:spPr>
          <a:xfrm>
            <a:off x="11241268" y="474391"/>
            <a:ext cx="107533" cy="107533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1072287" y="643372"/>
            <a:ext cx="107533" cy="107533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95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Преподаватель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2852928"/>
            <a:ext cx="2468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46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быстрее отмечает посещаемость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видит проблемных студентов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фиксирует свои действия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395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Студент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09160" y="2852928"/>
            <a:ext cx="24688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246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получает ранний сигнал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понимает причину риска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может исправить ситуацию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395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Администрация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412480" y="2852928"/>
            <a:ext cx="2468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3246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видит группы с проблемами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контролирует эскалацию</a:t>
            </a:r>
            <a:endParaRPr lang="en-US" sz="1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получает историю действий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394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эффект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5303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Реакция на академический риск становится не случайной, а системной.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" y="71323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8474" y="776874"/>
            <a:ext cx="265176" cy="185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320" dirty="0"/>
          </a:p>
        </p:txBody>
      </p:sp>
      <p:sp>
        <p:nvSpPr>
          <p:cNvPr id="5" name="Shape 3"/>
          <p:cNvSpPr/>
          <p:nvPr/>
        </p:nvSpPr>
        <p:spPr>
          <a:xfrm>
            <a:off x="1112276" y="787481"/>
            <a:ext cx="148499" cy="148499"/>
          </a:xfrm>
          <a:prstGeom prst="arc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878921" y="1020836"/>
            <a:ext cx="148499" cy="148499"/>
          </a:xfrm>
          <a:prstGeom prst="arc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804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LECTERN 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уже демонстрирует проект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914400" y="28712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8163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единый кабинет преподавателя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34670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2918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ручной и AI-учет посещаемости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82219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аналитику студентов и групп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242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уведомления и фиксацию действий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33172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Lectern AI — не набор отдельных функций, а контур раннего выявления и сопровождения академических рисков.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6355080" y="4315968"/>
            <a:ext cx="4069080" cy="0"/>
          </a:xfrm>
          <a:prstGeom prst="line">
            <a:avLst/>
          </a:prstGeom>
          <a:noFill/>
          <a:ln w="3048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48006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C8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Готово для защиты: проблема, решение, архитектура, модули, ценность.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Lectern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Lectern AI</dc:title>
  <dc:subject>Система академического мониторинга</dc:subject>
  <dc:creator>Lectern AI</dc:creator>
  <cp:lastModifiedBy>Lectern AI</cp:lastModifiedBy>
  <cp:revision>1</cp:revision>
  <dcterms:created xsi:type="dcterms:W3CDTF">2026-04-29T18:57:30Z</dcterms:created>
  <dcterms:modified xsi:type="dcterms:W3CDTF">2026-04-29T18:57:30Z</dcterms:modified>
</cp:coreProperties>
</file>